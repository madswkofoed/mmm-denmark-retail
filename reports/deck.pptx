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Havehjornet: Marketing Mix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Portfolio project – simulated client data, real external data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 client sales and media data in this project are </a:t>
            </a:r>
            <a:r>
              <a:rPr b="1"/>
              <a:t>simulated</a:t>
            </a:r>
            <a:r>
              <a:rPr/>
              <a:t>, with a known ground truth – weather, Danish consumer confidence, CPI, and public holidays are </a:t>
            </a:r>
            <a:r>
              <a:rPr b="1"/>
              <a:t>real</a:t>
            </a:r>
            <a:r>
              <a:rPr/>
              <a:t> public data.</a:t>
            </a:r>
          </a:p>
          <a:p>
            <a:pPr lvl="0"/>
            <a:r>
              <a:rPr/>
              <a:t>Media explains an estimated </a:t>
            </a:r>
            <a:r>
              <a:rPr b="1"/>
              <a:t>24.8%</a:t>
            </a:r>
            <a:r>
              <a:rPr/>
              <a:t> of weekly revenue (90% credible interval [18.5%, 31.7%]), vs. a true simulated value of 16.6%.</a:t>
            </a:r>
          </a:p>
          <a:p>
            <a:pPr lvl="0"/>
            <a:r>
              <a:rPr/>
              <a:t>Platform dashboards overstate incrementality for brand search and retargeting – their platform-reported ROAS is 3.1x and 2.5x, while the Bayesian model estimates their true incremental ROAS much lower.</a:t>
            </a:r>
          </a:p>
          <a:p>
            <a:pPr lvl="0"/>
            <a:r>
              <a:rPr/>
              <a:t>A simulated geo experiment on 98 Danish municipalities validates paid social prospecting’s effect and is used to sharpen the model’s estimate for that channel.</a:t>
            </a:r>
          </a:p>
          <a:p>
            <a:pPr lvl="0"/>
            <a:r>
              <a:rPr/>
              <a:t>A budget reallocation is recommended with an explicit uncertainty range, not a single number presented as fact.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drove sales</a:t>
            </a:r>
          </a:p>
        </p:txBody>
      </p:sp>
      <p:pic>
        <p:nvPicPr>
          <p:cNvPr descr="../results/figures/04a_decom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(trend, season, holidays, price, weather, macro, store count) vs. media contribution, ridge/elastic-net decomposition.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Platform-reported vs. incremental ROAS</a:t>
            </a:r>
          </a:p>
        </p:txBody>
      </p:sp>
      <p:pic>
        <p:nvPicPr>
          <p:cNvPr descr="../results/figures/02_platform_reported_roa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dashboards report </a:t>
            </a:r>
            <a:r>
              <a:rPr b="1"/>
              <a:t>last-click</a:t>
            </a:r>
            <a:r>
              <a:rPr/>
              <a:t> ROAS – credit assigned to whichever channel touched a customer last, regardless of whether that channel caused the purchase. TV, out-of-home, and leaflets have no platform-reported number at all (no last-click tracking for offline channels).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regularised model’s known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Media share, ridge/elastic-net point estimate: </a:t>
            </a:r>
            <a:r>
              <a:rPr b="1"/>
              <a:t>63.5%</a:t>
            </a:r>
            <a:r>
              <a:rPr/>
              <a:t> of revenue – vs. a true 16.6%.</a:t>
            </a:r>
          </a:p>
          <a:p>
            <a:pPr lvl="0" indent="0" marL="0">
              <a:buNone/>
            </a:pPr>
            <a:r>
              <a:rPr/>
              <a:t>Not a bug: a lambda-sensitivity sweep shows no single regularisation strength is simultaneously well-fitting and causally accurate when media and seasonal controls are this collinear. Several different attributions fit the observed data almost equally well.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Bayesian model, with sensible priors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True 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Ridge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Bayesian estimate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social_retargeting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33.61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search_brand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5.87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ooh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search_nonbrand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programmatic_display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leaflets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online_video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social_prospecting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tv_linear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Weakly informative priors (a channel fully saturated is unlikely to explain most of weekly revenue – generic business judgement, not the true answer) pull media share to </a:t>
            </a:r>
            <a:r>
              <a:rPr b="1"/>
              <a:t>24.8%</a:t>
            </a:r>
            <a:r>
              <a:rPr/>
              <a:t> (90% CI [18.5%, 31.7%]).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Carryover and diminishing returns</a:t>
            </a:r>
          </a:p>
        </p:txBody>
      </p:sp>
      <p:pic>
        <p:nvPicPr>
          <p:cNvPr descr="../results/figures/04a_response_curv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35200" y="1193800"/>
            <a:ext cx="466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channel’s estimated response curve: carryover (adstock) plus diminishing returns (Hill saturation), fit via rolling-origin time-series cross-validation – never using the true answer.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Incrementality: the geo experiment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/>
                <a:gridCol w="825500"/>
                <a:gridCol w="952500"/>
                <a:gridCol w="1016000"/>
                <a:gridCol w="1206500"/>
                <a:gridCol w="1016000"/>
                <a:gridCol w="1206500"/>
                <a:gridCol w="12065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DiD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Clustered 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Permutation 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MDE (90% power)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Achieved power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Randomisation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Bootstrap CI 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Bootstrap CI upper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73.578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-0.028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Paid social prospecting switched off in a randomly assigned half of Denmark’s 98 municipalities for 6 weeks. Experiment-implied ROAS: </a:t>
            </a:r>
            <a:r>
              <a:rPr b="1"/>
              <a:t>2.42</a:t>
            </a:r>
            <a:r>
              <a:rPr/>
              <a:t> (SE 0.91).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the experiment improve the model?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71700"/>
                <a:gridCol w="2057400"/>
                <a:gridCol w="14859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True 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Before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After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Error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Error after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reallocation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/>
                <a:gridCol w="2311400"/>
                <a:gridCol w="27051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Current spend (DKK/wk)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Recommended spend (DKK/wk)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Change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tv_linear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705251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423150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online_video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159032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101293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social_prospecting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139932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192848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social_retargeting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search_brand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48406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67768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search_nonbrand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109669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153537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programmatic_display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92219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129106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ooh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228306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319628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leaflets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188696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264175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Caveat:</a:t>
            </a:r>
            <a:r>
              <a:rPr/>
              <a:t> the recommended increases for search_brand and social_retargeting rely on posterior ROAS estimates still inflated by known, uncorrected endogeneity (see the previous two slides) – discount or exclude those two pending further identification work.</a:t>
            </a:r>
          </a:p>
          <a:p>
            <a:pPr lvl="0" indent="0">
              <a:buNone/>
            </a:pPr>
            <a:r>
              <a:rPr>
                <a:latin typeface="Courier"/>
              </a:rPr>
              <a:t>Expected uplift: 708,443 DKK/week (90% CI [289,551, 1,130,086]). Probability the recommended mix beats the current one: 100%.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validation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MAPE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Bias (%)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Seasonal naive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1707463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1945051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-2.6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ranger (random forest)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2365844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-4.6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Ridge/elastic-net MMM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3105718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Naive OLS on raw spend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3022272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-4.7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Bayesian MMM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2950834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-6.3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No-media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3317423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-10.2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Out-of-time holdout: 26 weeks, never touched by any tuning decision. Seasonal naive wins on pure forecast accuracy (strong, repeatable category seasonality) – but cannot answer any “what if we changed spend” question, which is the MMM’s actual purpose.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Search brand and social retargeting remain overestimated even in the Bayesian model – endogenous spend that priors alone cannot fix; only search_brand was never experimentally tested.</a:t>
            </a:r>
          </a:p>
          <a:p>
            <a:pPr lvl="0"/>
            <a:r>
              <a:rPr/>
              <a:t>No observable proxy for competitor activity, despite it being a true driver in the simulation.</a:t>
            </a:r>
          </a:p>
          <a:p>
            <a:pPr lvl="0"/>
            <a:r>
              <a:rPr/>
              <a:t>Adstock decay / saturation shape are weakly identified even where overall ROAS recovers well.</a:t>
            </a:r>
          </a:p>
          <a:p>
            <a:pPr lvl="0"/>
            <a:r>
              <a:rPr/>
              <a:t>Rolling-origin CV is volatile with ~180-209 weekly observations (mean fold R²=0.019, ranging -1.91 to 0.60) – in-sample fit (R²=0.868) overstates true generalisation.</a:t>
            </a:r>
          </a:p>
          <a:p>
            <a:pPr lvl="0" indent="0" marL="0">
              <a:buNone/>
            </a:pPr>
            <a:r>
              <a:rPr/>
              <a:t>See </a:t>
            </a:r>
            <a:r>
              <a:rPr>
                <a:latin typeface="Courier"/>
              </a:rPr>
              <a:t>docs/assumptions_and_limitations.md</a:t>
            </a:r>
            <a:r>
              <a:rPr/>
              <a:t> for the full list.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an equivalent experiment (or find a valid instrument) for search_brand, the other clearly endogenous channel.</a:t>
            </a:r>
          </a:p>
          <a:p>
            <a:pPr lvl="0"/>
            <a:r>
              <a:rPr/>
              <a:t>Source a real competitor-activity proxy.</a:t>
            </a:r>
          </a:p>
          <a:p>
            <a:pPr lvl="0"/>
            <a:r>
              <a:rPr/>
              <a:t>Refresh the model monthly on an expanding window (see </a:t>
            </a:r>
            <a:r>
              <a:rPr>
                <a:latin typeface="Courier"/>
              </a:rPr>
              <a:t>results/figures/09_roas_stability.png</a:t>
            </a:r>
            <a:r>
              <a:rPr/>
              <a:t> for how stable estimates have been historically in this simulation).</a:t>
            </a:r>
          </a:p>
          <a:p>
            <a:pPr lvl="0"/>
            <a:r>
              <a:rPr/>
              <a:t>Extend the recovery study across many simulated data re-draws to check whether credible intervals actually achieve their nominal coverage, not just in this one run.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what’s real vs. simulated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Simulated</a:t>
            </a:r>
            <a:r>
              <a:rPr/>
              <a:t> (known ground truth, used only in </a:t>
            </a:r>
            <a:r>
              <a:rPr>
                <a:latin typeface="Courier"/>
              </a:rPr>
              <a:t>scripts/05b_recovery_study.R</a:t>
            </a:r>
            <a:r>
              <a:rPr/>
              <a:t> and the geo experiment’s outcome data): all client sales, all media spend, all platform-reported revenue.</a:t>
            </a:r>
          </a:p>
          <a:p>
            <a:pPr lvl="0"/>
            <a:r>
              <a:rPr b="1"/>
              <a:t>Real</a:t>
            </a:r>
            <a:r>
              <a:rPr/>
              <a:t>: weather (Open-Meteo), Danish consumer confidence and CPI (Statistics Denmark StatBank), computed Danish public holidays.</a:t>
            </a:r>
          </a:p>
          <a:p>
            <a:pPr lvl="0"/>
            <a:r>
              <a:rPr/>
              <a:t>Full data dictionary: </a:t>
            </a:r>
            <a:r>
              <a:rPr>
                <a:latin typeface="Courier"/>
              </a:rPr>
              <a:t>data/processed/data_dictionary.csv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Havehjornet: Marketing Mix Modelling</dc:title>
  <dc:creator/>
  <cp:keywords/>
  <dcterms:created xsi:type="dcterms:W3CDTF">2026-09-20T18:05:10Z</dcterms:created>
  <dcterms:modified xsi:type="dcterms:W3CDTF">2026-09-20T18:05:10Z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Portfolio project – simulated client data, real external data</vt:lpwstr>
  </property>
  <property fmtid="{D5CDD505-2E9C-101B-9397-08002B2CF9AE}" pid="9" name="toc-title">
    <vt:lpwstr>Table of contents</vt:lpwstr>
  </property>
</Properties>
</file>